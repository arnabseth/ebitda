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70" r:id="rId3"/>
    <p:sldId id="271" r:id="rId4"/>
    <p:sldId id="272" r:id="rId5"/>
    <p:sldId id="273" r:id="rId6"/>
    <p:sldId id="275" r:id="rId7"/>
    <p:sldId id="27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75" d="100"/>
          <a:sy n="75" d="100"/>
        </p:scale>
        <p:origin x="690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2F676-91D6-1D01-7170-253A2BC08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409F21-8D96-0EA7-66FB-D10F106D3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75DE1-EC68-9C89-6E34-20A1F821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F98E7-51D1-496E-B645-D26EBA25DC1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F8766-7BF6-29D9-BEA7-77729BAD1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7C24C-59A5-67C1-6D19-B1F102ED6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D44D3-2ADB-4741-B3B1-5691BD3DD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368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BA6DC-C836-1138-6E56-5F36CBE5D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28342-D638-5C86-C42D-59711A8C9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10E88-2081-2C45-C869-78383EE27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F98E7-51D1-496E-B645-D26EBA25DC1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5B6E4-B96D-6597-D520-1D8025BDB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406E3-D083-1981-D9F5-C441F9546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D44D3-2ADB-4741-B3B1-5691BD3DD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27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29E84-8303-16F9-2D22-D5EAA4A97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A341B-1D3D-031B-65D2-AF6F8B0DA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A450C-ABA1-6F28-1DDE-25AD84F00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F98E7-51D1-496E-B645-D26EBA25DC1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12584-7324-6943-0066-852667A84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973D9-9CD7-8D89-B79F-884742B78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D44D3-2ADB-4741-B3B1-5691BD3DD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492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552F-2BE5-7E0D-E0C4-D9F0A8C54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ADEFF-B4BC-1586-10AF-21E06879D4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9640F-1333-AB65-4DBB-56313E64C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BD192-1B39-6C59-4FAF-D91D45964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F98E7-51D1-496E-B645-D26EBA25DC1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9EB069-0B58-CF00-BCFE-5C425255E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AEF0A-585D-E81F-2A34-1099CE24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D44D3-2ADB-4741-B3B1-5691BD3DD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18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A1468-D53F-A23F-034F-294E256E7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6E621-2715-A8E5-75D0-D534F7872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4246E-2D0A-8E69-327D-5ADBD8028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D552B3-BFBB-2386-3EAF-7266BC207E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7DF71D-F0FA-7EB5-72F3-4703D37D45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306C4D-9404-32C6-F12B-C63564BE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F98E7-51D1-496E-B645-D26EBA25DC1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424A20-C52A-9995-30BD-D278D70C7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AC8167-AB9F-7735-45D6-8F4D99A9C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D44D3-2ADB-4741-B3B1-5691BD3DD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434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4E6E-133C-3AF5-D361-9F2FC4879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94EEA-2582-92C0-A4BE-DCFB7874A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F98E7-51D1-496E-B645-D26EBA25DC1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348C0D-CAD5-7C33-373C-9339F6E8C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F70E60-3AF3-4FFA-565D-D7295B9DF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D44D3-2ADB-4741-B3B1-5691BD3DD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780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EDAEC0-0D78-C26F-42C9-FB2A238B7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F98E7-51D1-496E-B645-D26EBA25DC1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D33917-91F7-34EA-633E-812ACD02D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33E83-A7D7-4184-58F7-383CE41F4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D44D3-2ADB-4741-B3B1-5691BD3DD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220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2195A-4A53-17D6-407A-3A396A62F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FE42E-3BA8-9410-BA27-F563D03CF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8EE1D-B2CE-319B-2CE6-2C6525B86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90CD5-1796-5AF7-4BF8-847041937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F98E7-51D1-496E-B645-D26EBA25DC1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39521-0884-D981-029A-EFD3A60C8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93078-9393-9998-3AA6-46F5A8C90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D44D3-2ADB-4741-B3B1-5691BD3DD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758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F7561-0EEC-BF92-D228-1F73C42B6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C18276-3CBE-3C1C-BB5F-EF8FB42B6A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B84BCC-A3B7-57A4-86B3-438B0B58EA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D686FA-A73B-091C-A788-833E6E956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F98E7-51D1-496E-B645-D26EBA25DC1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20D75-D1CD-EEFE-9BDD-99A019C4C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B2A360-6352-0E71-194B-23C2F76F4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D44D3-2ADB-4741-B3B1-5691BD3DD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91834-6626-9618-6623-148808799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394B3A-B527-E4B9-0480-31E07BD3D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CFFA9-5CF4-28B0-3A71-5C8E901A1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F98E7-51D1-496E-B645-D26EBA25DC1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8E701-619C-F16A-B521-6CAB64D5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ABD5C-07E2-C637-2071-9194D3783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D44D3-2ADB-4741-B3B1-5691BD3DD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760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E00CAE-A5F5-78DA-699D-109C7206CD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70A4-C45E-3E5B-C502-FA918EF12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F6B1B-A438-C3F2-9CAD-69A523C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F98E7-51D1-496E-B645-D26EBA25DC1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6F867-3785-9F85-A661-2AF2CA9FB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89B8E-AEEB-E6C5-5D76-11BEE8073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D44D3-2ADB-4741-B3B1-5691BD3DD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41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9FB234-F3E9-29A6-795C-342CA736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54245-EB83-3FA4-64D5-A30E79B3F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0849F-9827-E59F-2C74-3F4E9AD464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F98E7-51D1-496E-B645-D26EBA25DC1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80333-0E93-0F5B-23E1-C16D31046C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183B8-AF52-D156-0B3B-D7BE5D3888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CD44D3-2ADB-4741-B3B1-5691BD3DD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460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#Contribution!A1"/><Relationship Id="rId3" Type="http://schemas.openxmlformats.org/officeDocument/2006/relationships/hyperlink" Target="file:///C:\Users\SouradyutiC\Downloads\SD%20Expenses" TargetMode="External"/><Relationship Id="rId7" Type="http://schemas.openxmlformats.org/officeDocument/2006/relationships/hyperlink" Target="file:///C:\Users\SouradyutiC\Downloads\Subtotal%20VCC" TargetMode="External"/><Relationship Id="rId12" Type="http://schemas.openxmlformats.org/officeDocument/2006/relationships/hyperlink" Target="#EBITA!A1"/><Relationship Id="rId2" Type="http://schemas.openxmlformats.org/officeDocument/2006/relationships/hyperlink" Target="file:///C:\Users\SouradyutiC\Downloads\Total%20Sales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file:///C:\Users\SouradyutiC\Downloads\Gross%20Margin" TargetMode="External"/><Relationship Id="rId11" Type="http://schemas.openxmlformats.org/officeDocument/2006/relationships/hyperlink" Target="file:///C:\Users\SouradyutiC\Downloads\Subtotal%20Corporate%20Expenses" TargetMode="External"/><Relationship Id="rId5" Type="http://schemas.openxmlformats.org/officeDocument/2006/relationships/hyperlink" Target="#Melt!A1"/><Relationship Id="rId10" Type="http://schemas.openxmlformats.org/officeDocument/2006/relationships/hyperlink" Target="file:///C:\Users\SouradyutiC\Downloads\Margin%20Jolwa" TargetMode="External"/><Relationship Id="rId4" Type="http://schemas.openxmlformats.org/officeDocument/2006/relationships/hyperlink" Target="file:///C:\Users\SouradyutiC\Downloads\Net%20Sales" TargetMode="External"/><Relationship Id="rId9" Type="http://schemas.openxmlformats.org/officeDocument/2006/relationships/hyperlink" Target="file:///C:\Users\SouradyutiC\Downloads\Subtotal%20FC%20Conversio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3"/>
          <p:cNvSpPr txBox="1"/>
          <p:nvPr/>
        </p:nvSpPr>
        <p:spPr>
          <a:xfrm>
            <a:off x="109181" y="0"/>
            <a:ext cx="8202305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b="1" dirty="0">
                <a:solidFill>
                  <a:srgbClr val="102A68"/>
                </a:solidFill>
                <a:latin typeface="Segoe UI"/>
                <a:ea typeface="Red Hat Display"/>
                <a:cs typeface="Segoe UI"/>
                <a:sym typeface="Red Hat Display"/>
              </a:rPr>
              <a:t>EBITDA Calculation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09180" y="645722"/>
          <a:ext cx="11900849" cy="4033004"/>
        </p:xfrm>
        <a:graphic>
          <a:graphicData uri="http://schemas.openxmlformats.org/drawingml/2006/table">
            <a:tbl>
              <a:tblPr/>
              <a:tblGrid>
                <a:gridCol w="2499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1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25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563C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2" action="ppaction://hlinkfile"/>
                        </a:rPr>
                        <a:t>Total Sales</a:t>
                      </a:r>
                      <a:endParaRPr lang="en-IN" sz="1600" b="0" i="0" u="none" strike="noStrike" dirty="0">
                        <a:solidFill>
                          <a:srgbClr val="0563C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Sales Qty Domestic + Sales Value Domestic + Sales Qty Export + Sales Value Export + Waste Sale/Others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53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563C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3" action="ppaction://hlinkfile"/>
                        </a:rPr>
                        <a:t>Sales &amp; Distribution Expenses</a:t>
                      </a:r>
                      <a:endParaRPr lang="en-IN" sz="1600" b="0" i="0" u="none" strike="noStrike" dirty="0">
                        <a:solidFill>
                          <a:srgbClr val="0563C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Outward Freight + Ocean Freight + Commission + Cash Discount + Rate Discount + Internal Freight + Warehouse charges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25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563C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4" action="ppaction://hlinkfile"/>
                        </a:rPr>
                        <a:t>Net Sales</a:t>
                      </a:r>
                      <a:endParaRPr lang="en-IN" sz="1600" b="0" i="0" u="none" strike="noStrike" dirty="0">
                        <a:solidFill>
                          <a:srgbClr val="0563C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Total Sales- Sales &amp; Distribution Expenses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51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563C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5" action="ppaction://hlinkfile"/>
                        </a:rPr>
                        <a:t>Melt</a:t>
                      </a:r>
                      <a:endParaRPr lang="en-IN" sz="1600" b="0" i="0" u="none" strike="noStrike" dirty="0">
                        <a:solidFill>
                          <a:srgbClr val="0563C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Melt = PTA + MEG/ Other Raw Materials cost including Conversion cost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25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563C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6" action="ppaction://hlinkfile"/>
                        </a:rPr>
                        <a:t>Gross Margin</a:t>
                      </a:r>
                      <a:endParaRPr lang="en-IN" sz="1600" b="0" i="0" u="none" strike="noStrike" dirty="0">
                        <a:solidFill>
                          <a:srgbClr val="0563C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Net Sales - Melt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51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563C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7" action="ppaction://hlinkfile"/>
                        </a:rPr>
                        <a:t>Subtotal VCC</a:t>
                      </a:r>
                      <a:endParaRPr lang="en-IN" sz="1600" b="0" i="0" u="none" strike="noStrike" dirty="0">
                        <a:solidFill>
                          <a:srgbClr val="0563C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Power + Heating + Antimony + Additives &amp; chemicals + Packing materials + Procured RM (Chips, spandex- Other than PTA &amp; MEG)) +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NRV + Inventory Cost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+ Other VCC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25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563C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8" action="ppaction://hlinkfile"/>
                        </a:rPr>
                        <a:t>Contribution</a:t>
                      </a:r>
                      <a:endParaRPr lang="en-IN" sz="1600" b="0" i="0" u="none" strike="noStrike" dirty="0">
                        <a:solidFill>
                          <a:srgbClr val="0563C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Gross Margin/spread - Subtotal VCC (Variable Cost)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53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563C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9" action="ppaction://hlinkfile"/>
                        </a:rPr>
                        <a:t>Subtotal FC Conversion cost</a:t>
                      </a:r>
                      <a:endParaRPr lang="en-IN" sz="1600" b="0" i="0" u="none" strike="noStrike" dirty="0">
                        <a:solidFill>
                          <a:srgbClr val="0563C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Stores &amp; repairs + Manpower (Payroll) + Contract Manpower + Insurance + Overheads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25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563C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10" action="ppaction://hlinkfile"/>
                        </a:rPr>
                        <a:t>Margin </a:t>
                      </a:r>
                      <a:r>
                        <a:rPr lang="en-IN" sz="1600" b="0" i="0" u="none" strike="noStrike" dirty="0" err="1">
                          <a:solidFill>
                            <a:srgbClr val="0563C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10" action="ppaction://hlinkfile"/>
                        </a:rPr>
                        <a:t>Jolwa</a:t>
                      </a:r>
                      <a:endParaRPr lang="en-IN" sz="1600" b="0" i="0" u="none" strike="noStrike" dirty="0">
                        <a:solidFill>
                          <a:srgbClr val="0563C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Contribution - Subtotal FC Conversion cost - Internal shifting of SFG (Or any other unallocated cost of Jolwa)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53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563C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11" action="ppaction://hlinkfile"/>
                        </a:rPr>
                        <a:t>Subtotal corporate Expense</a:t>
                      </a:r>
                      <a:endParaRPr lang="en-IN" sz="1600" b="0" i="0" u="none" strike="noStrike" dirty="0">
                        <a:solidFill>
                          <a:srgbClr val="0563C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Corporate Expense Payroll, Other Expenses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25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563C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12" action="ppaction://hlinkfile"/>
                        </a:rPr>
                        <a:t>EBITDA</a:t>
                      </a:r>
                      <a:endParaRPr lang="en-IN" sz="1600" b="0" i="0" u="none" strike="noStrike" dirty="0">
                        <a:solidFill>
                          <a:srgbClr val="0563C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Margin </a:t>
                      </a:r>
                      <a:r>
                        <a:rPr lang="en-IN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Jolwa</a:t>
                      </a: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- Subtotal corporate Expense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181" y="5840188"/>
          <a:ext cx="7988300" cy="445770"/>
        </p:xfrm>
        <a:graphic>
          <a:graphicData uri="http://schemas.openxmlformats.org/drawingml/2006/table">
            <a:tbl>
              <a:tblPr/>
              <a:tblGrid>
                <a:gridCol w="798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Important Points: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</a:rPr>
                        <a:t>Decision to be </a:t>
                      </a:r>
                      <a:r>
                        <a:rPr lang="en-US" sz="14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</a:rPr>
                        <a:t>tajen</a:t>
                      </a: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</a:rPr>
                        <a:t> : How to take care of the Common Cost center expenses at SKU/Product Level ?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09181" y="4889649"/>
            <a:ext cx="11914497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Breakdown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: Full support for SKU, product, and plant-wise allocation; reportable per kg for fine granularity.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Reporting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Frequency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: Generates daily, month-to-date, and “T-2” (two days lag) management dashboards.</a:t>
            </a:r>
            <a:endParaRPr lang="en-US" sz="1600" b="0" i="0"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381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3"/>
          <p:cNvSpPr txBox="1"/>
          <p:nvPr/>
        </p:nvSpPr>
        <p:spPr>
          <a:xfrm>
            <a:off x="118280" y="235189"/>
            <a:ext cx="8202305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b="1" dirty="0">
                <a:solidFill>
                  <a:srgbClr val="102A68"/>
                </a:solidFill>
                <a:latin typeface="Segoe UI" panose="020B0502040204020203" pitchFamily="34" charset="0"/>
                <a:ea typeface="Red Hat Display"/>
                <a:cs typeface="Segoe UI" panose="020B0502040204020203" pitchFamily="34" charset="0"/>
                <a:sym typeface="Red Hat Display"/>
              </a:rPr>
              <a:t>Sales &amp; Net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280" y="948624"/>
            <a:ext cx="1195544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Sales Data Sources: </a:t>
            </a: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Directly sourced from SAP, reflecting Domestic, Export, and Waste/Other sales. Sales quantity and value are captured separately for each segment and product SKU.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Key Adjustments:</a:t>
            </a:r>
          </a:p>
          <a:p>
            <a:pPr lvl="1"/>
            <a:r>
              <a:rPr lang="en-US" b="1" i="1" dirty="0">
                <a:latin typeface="Segoe UI" panose="020B0502040204020203" pitchFamily="34" charset="0"/>
                <a:cs typeface="Segoe UI" panose="020B0502040204020203" pitchFamily="34" charset="0"/>
              </a:rPr>
              <a:t>Sales Returns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SAP entries adjust sales on the actual return date.</a:t>
            </a:r>
          </a:p>
          <a:p>
            <a:pPr lvl="1"/>
            <a:r>
              <a:rPr lang="en-US" b="1" i="1" dirty="0">
                <a:latin typeface="Segoe UI" panose="020B0502040204020203" pitchFamily="34" charset="0"/>
                <a:cs typeface="Segoe UI" panose="020B0502040204020203" pitchFamily="34" charset="0"/>
              </a:rPr>
              <a:t>Dealer Commission &amp; Rate Differences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 Fetched at invoice level and allocated per SKU.</a:t>
            </a:r>
          </a:p>
          <a:p>
            <a:pPr lvl="1"/>
            <a:r>
              <a:rPr lang="en-US" b="1" i="1" dirty="0">
                <a:latin typeface="Segoe UI" panose="020B0502040204020203" pitchFamily="34" charset="0"/>
                <a:cs typeface="Segoe UI" panose="020B0502040204020203" pitchFamily="34" charset="0"/>
              </a:rPr>
              <a:t>Waste Sales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 Classified under "Others," mapped using specific SAP waste codes pending more granular SKU mapping.</a:t>
            </a:r>
          </a:p>
          <a:p>
            <a:pPr lvl="1"/>
            <a:r>
              <a:rPr lang="en-US" b="1" i="1" dirty="0">
                <a:latin typeface="Segoe UI" panose="020B0502040204020203" pitchFamily="34" charset="0"/>
                <a:cs typeface="Segoe UI" panose="020B0502040204020203" pitchFamily="34" charset="0"/>
              </a:rPr>
              <a:t>Distribution Expenses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Include Outward Freight, Ocean Freight, Commission, Cash Discount, Rate Discount, Internal Freight, and Warehouse Charges.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Net Sales Formula:</a:t>
            </a: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Net Sales=Total Sales−Sales Distribution Expenses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Reporting: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Drill-downs possible, and credits or adjustments are posted by date for monthly closing.</a:t>
            </a:r>
          </a:p>
          <a:p>
            <a:pPr lvl="1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7898" y="4986046"/>
            <a:ext cx="11230938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Sales Total Value=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(Sales Value Domestic+ Sales Value Export)−Sales Returns Value−Dealer Commission ± Price/Rate Differences</a:t>
            </a: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Net Sales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= Sales Total Value – Sales Distribution Expenses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850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3"/>
          <p:cNvSpPr txBox="1"/>
          <p:nvPr/>
        </p:nvSpPr>
        <p:spPr>
          <a:xfrm>
            <a:off x="109181" y="314793"/>
            <a:ext cx="8202305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b="1" dirty="0">
                <a:solidFill>
                  <a:srgbClr val="102A68"/>
                </a:solidFill>
                <a:latin typeface="Segoe UI" panose="020B0502040204020203" pitchFamily="34" charset="0"/>
                <a:ea typeface="Red Hat Display"/>
                <a:cs typeface="Segoe UI" panose="020B0502040204020203" pitchFamily="34" charset="0"/>
                <a:sym typeface="Red Hat Display"/>
              </a:rPr>
              <a:t>Melt (PTA &amp; MEG)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181" y="1162632"/>
            <a:ext cx="1195544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Logic:</a:t>
            </a:r>
          </a:p>
          <a:p>
            <a:pPr lvl="1"/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Consumption mapped through BOM: </a:t>
            </a: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Each SKU’s daily output × BOM factor gives PTA/MEG consumption.</a:t>
            </a:r>
          </a:p>
          <a:p>
            <a:pPr lvl="1"/>
            <a:r>
              <a:rPr lang="en-IN" b="1" i="1" dirty="0">
                <a:latin typeface="Segoe UI" panose="020B0502040204020203" pitchFamily="34" charset="0"/>
                <a:cs typeface="Segoe UI" panose="020B0502040204020203" pitchFamily="34" charset="0"/>
              </a:rPr>
              <a:t>Pricing</a:t>
            </a:r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 Initially uses last costed price, adjusted at month-end with actual procurement rates.</a:t>
            </a:r>
          </a:p>
          <a:p>
            <a:pPr lvl="1"/>
            <a:r>
              <a:rPr lang="en-IN" b="1" i="1" dirty="0">
                <a:latin typeface="Segoe UI" panose="020B0502040204020203" pitchFamily="34" charset="0"/>
                <a:cs typeface="Segoe UI" panose="020B0502040204020203" pitchFamily="34" charset="0"/>
              </a:rPr>
              <a:t>Consumption Mapping</a:t>
            </a:r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BOM defines the standard consumption of PTA for each SKU.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With the daily production plan, PTA consumption is derived by multiplying the SKU output quantity by the BOM consumption factor.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This allows automated mapping of consumption to SKU on a daily basis</a:t>
            </a: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171450" lvl="1"/>
            <a:r>
              <a:rPr lang="en-US" b="1" i="1" dirty="0">
                <a:latin typeface="Segoe UI" panose="020B0502040204020203" pitchFamily="34" charset="0"/>
                <a:cs typeface="Segoe UI" panose="020B0502040204020203" pitchFamily="34" charset="0"/>
              </a:rPr>
              <a:t>     Manual Rate Handling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Until actual cost is finalized, the last manual entry of PTA rate (standard price) will be used for daily costing.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same manual rate continues till it is updated, ensuring consistency.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Comment: </a:t>
            </a: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Tracks impact of raw material volatility and aligns cost allocation dynamically.</a:t>
            </a:r>
          </a:p>
          <a:p>
            <a:pPr lvl="1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9181" y="5326036"/>
            <a:ext cx="11723428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Gross Margin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= Net Sales−Melt Raw Material Cost</a:t>
            </a:r>
            <a:endParaRPr lang="en-IN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13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3"/>
          <p:cNvSpPr txBox="1"/>
          <p:nvPr/>
        </p:nvSpPr>
        <p:spPr>
          <a:xfrm>
            <a:off x="109181" y="254833"/>
            <a:ext cx="8202305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b="1" dirty="0">
                <a:solidFill>
                  <a:srgbClr val="102A68"/>
                </a:solidFill>
                <a:latin typeface="Segoe UI" panose="020B0502040204020203" pitchFamily="34" charset="0"/>
                <a:ea typeface="Red Hat Display"/>
                <a:cs typeface="Segoe UI" panose="020B0502040204020203" pitchFamily="34" charset="0"/>
                <a:sym typeface="Red Hat Display"/>
              </a:rPr>
              <a:t>Variable Cost Contribution (VCC)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181" y="1230891"/>
            <a:ext cx="119554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Components: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Power, Heating, Antimony, Additives/Chemicals, Packing Material, Procured RM Chips &amp; Spandex, Other VCC.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Power: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Calculated as per plant and production line. Rate and quantity norms are maintained in the system and multiplied with plant-wise correction factors.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Heating: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Merge Factor applied per SKU to establish required heating quantity, then costed at the latest manual 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BOM Mapping: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Antimony, Additives, Chemicals, and Packing are tracked by combining quantity (from BOM/production plans) with rates from SAP/material masters.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Procured RMs: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Last cost from SAP material master × actual usage.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NRV and Inventory Cost : </a:t>
            </a:r>
            <a:r>
              <a:rPr lang="en-US" dirty="0"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NRV is defined as the estimated selling price of an asset in the ordinary course of business, less the expected costs necessary to complete and sell the asset</a:t>
            </a:r>
          </a:p>
          <a:p>
            <a:r>
              <a:rPr lang="en-US" dirty="0"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     NRV=Estimated Selling Price − Costs to Produce − Costs to Sell.</a:t>
            </a:r>
          </a:p>
          <a:p>
            <a:r>
              <a:rPr lang="en-US" dirty="0"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    Inventory Cost will be calculated for EBITDA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Other VCC: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Plant-wise consumable costs split using merge factors for SKU-wise allocation.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Highlights: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Ensures daily, SKU-level allocation with audit trails for all variable costs.</a:t>
            </a:r>
          </a:p>
          <a:p>
            <a:pPr lvl="1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9181" y="5847539"/>
            <a:ext cx="11723428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Contribution=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Gross Margin−Total VCC </a:t>
            </a:r>
            <a:endParaRPr lang="en-IN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9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3"/>
          <p:cNvSpPr txBox="1"/>
          <p:nvPr/>
        </p:nvSpPr>
        <p:spPr>
          <a:xfrm>
            <a:off x="109181" y="272707"/>
            <a:ext cx="8202305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b="1" dirty="0">
                <a:solidFill>
                  <a:srgbClr val="102A68"/>
                </a:solidFill>
                <a:latin typeface="Segoe UI" panose="020B0502040204020203" pitchFamily="34" charset="0"/>
                <a:ea typeface="Red Hat Display"/>
                <a:cs typeface="Segoe UI" panose="020B0502040204020203" pitchFamily="34" charset="0"/>
                <a:sym typeface="Red Hat Display"/>
              </a:rPr>
              <a:t>Fixed Cost Conversion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181" y="980593"/>
            <a:ext cx="119554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Components: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Stores &amp; Repairs (SAP), Manpower Payroll (Manual), Contract Manpower (IGMS + SAP), Insurance (Manual), and Overheads (Manual/historical).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Allocation: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Fixed costs mapped to SKUs via merge factors or production distribution logic. Payroll can be adjusted with factors for leaves or overtime.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Insurance: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Two options—(1) Upfront allocation as per planned sales quantity per SKU/product or (2) Daily spread using recurring monthly journals.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Comment: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Provides daily control and transparency over plant-level conversion costs.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9181" y="3565916"/>
            <a:ext cx="119554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Definition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 Margin after variable and fixed costs, key performance indicator for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Jolwa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(primary producing) site.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Adjustments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 Accounts for "Internal Shifting of SFG" (semi-finished goods), with COGM and opening stock handled based on SAP data and production postings.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Purpose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 Crucial for site and product profitability analysis.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Jolwa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plant in scope, with options to extend logic to other sites.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SAP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Integration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: Weighted average of COGS maintained daily for accuracy.</a:t>
            </a:r>
          </a:p>
          <a:p>
            <a:pPr lvl="1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2BEB7473-DC7C-59C9-22E5-D3755274ED4C}"/>
              </a:ext>
            </a:extLst>
          </p:cNvPr>
          <p:cNvSpPr txBox="1"/>
          <p:nvPr/>
        </p:nvSpPr>
        <p:spPr>
          <a:xfrm>
            <a:off x="109181" y="3150417"/>
            <a:ext cx="8202305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b="1" dirty="0">
                <a:solidFill>
                  <a:srgbClr val="102A68"/>
                </a:solidFill>
                <a:latin typeface="Segoe UI" panose="020B0502040204020203" pitchFamily="34" charset="0"/>
                <a:ea typeface="Red Hat Display"/>
                <a:cs typeface="Segoe UI" panose="020B0502040204020203" pitchFamily="34" charset="0"/>
                <a:sym typeface="Red Hat Display"/>
              </a:rPr>
              <a:t>Internal Shifting Cost of SFG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98B99D-B672-AC14-C20B-B8D8D1A4A003}"/>
              </a:ext>
            </a:extLst>
          </p:cNvPr>
          <p:cNvSpPr/>
          <p:nvPr/>
        </p:nvSpPr>
        <p:spPr>
          <a:xfrm>
            <a:off x="225187" y="5643408"/>
            <a:ext cx="11723428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Margin at 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Jolwa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Contribution−Total Fixed Cost Conversion−Internal Shifting Cost of SFG 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387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3"/>
          <p:cNvSpPr txBox="1"/>
          <p:nvPr/>
        </p:nvSpPr>
        <p:spPr>
          <a:xfrm>
            <a:off x="109181" y="269823"/>
            <a:ext cx="8202305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b="1" dirty="0">
                <a:solidFill>
                  <a:srgbClr val="102A68"/>
                </a:solidFill>
                <a:latin typeface="Segoe UI" panose="020B0502040204020203" pitchFamily="34" charset="0"/>
                <a:ea typeface="Red Hat Display"/>
                <a:cs typeface="Segoe UI" panose="020B0502040204020203" pitchFamily="34" charset="0"/>
                <a:sym typeface="Red Hat Display"/>
              </a:rPr>
              <a:t>Corporate Expenses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181" y="980593"/>
            <a:ext cx="119554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Components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: Corporate Payroll, Other Corporate Expenses, Corporate Income.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Modeling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: Allocated using last month/quarter averages, grouped under four cost centers. Can be bucketed as "Others" or given dedicated reporting heads based on management decision.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Purpose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: Segregates headquarters costs from operational plant costs, allowing cleaner plant performance tracking.</a:t>
            </a:r>
          </a:p>
          <a:p>
            <a:pPr lvl="1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N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9181" y="4924210"/>
            <a:ext cx="11723428" cy="923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Total Corporate Expenses=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Corporate Expense Payroll + Corporate Expense Others - Corporate Income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EBITDA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= Margin at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Jolwa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– Total Corporate Expenses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94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3"/>
          <p:cNvSpPr txBox="1"/>
          <p:nvPr/>
        </p:nvSpPr>
        <p:spPr>
          <a:xfrm>
            <a:off x="109181" y="284813"/>
            <a:ext cx="8202305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b="1" dirty="0">
                <a:solidFill>
                  <a:srgbClr val="102A68"/>
                </a:solidFill>
                <a:latin typeface="Segoe UI" panose="020B0502040204020203" pitchFamily="34" charset="0"/>
                <a:ea typeface="Red Hat Display"/>
                <a:cs typeface="Segoe UI" panose="020B0502040204020203" pitchFamily="34" charset="0"/>
                <a:sym typeface="Red Hat Display"/>
              </a:rPr>
              <a:t>Key Process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181" y="980593"/>
            <a:ext cx="1195544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More than 500 SKUs handled with flexibility for cost forecasting, SKU-level drill downs, and daily margin tracking.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Dynamic integration between SAP, IGMS, and manual controls ensures comprehensive cost capture and management review-ready reporting.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Designed to support margin maximization, process efficiency, and proactive management decision-making at all levels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The EBITDA application will fetch required information from S&amp;OP application and will calculate the projected EBITDA. So, the projected feature will be delivered post Go-Live of S&amp;OP module.</a:t>
            </a:r>
          </a:p>
          <a:p>
            <a:pPr lvl="1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602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1181</Words>
  <Application>Microsoft Office PowerPoint</Application>
  <PresentationFormat>Widescreen</PresentationFormat>
  <Paragraphs>88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Arnab Seth</dc:creator>
  <cp:lastModifiedBy>Arnab Seth</cp:lastModifiedBy>
  <cp:revision>1</cp:revision>
  <dcterms:created xsi:type="dcterms:W3CDTF">2025-10-24T11:32:48Z</dcterms:created>
  <dcterms:modified xsi:type="dcterms:W3CDTF">2025-10-24T11:34:58Z</dcterms:modified>
</cp:coreProperties>
</file>